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s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1463040" cy="41148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ПРОМЫШЛЕННЫЙ ЭНЕРГЕТИЧЕСКИЙ ХОЛДИНГ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1188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Цифровая архитектура
современного холдинга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212080"/>
            <a:ext cx="102412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Целевое устройство информационных и операционных контуров: непрерывность технологического процесса и скорость обоснованного решения на достоверных данных.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4BEB2"/>
                </a:solidFill>
                <a:latin typeface="Consolas"/>
                <a:ea typeface="Consolas"/>
                <a:cs typeface="Consolas"/>
              </a:rPr>
              <a:t>01  / 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s-me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1463040" cy="41148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7899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Шесть блоков. Без деклараций о «цифровизации»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640080" cy="475488"/>
          </a:xfrm>
          <a:prstGeom prst="roundRect">
            <a:avLst>
              <a:gd name="adj" fmla="val 8000"/>
            </a:avLst>
          </a:prstGeom>
          <a:solidFill>
            <a:srgbClr val="121A2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0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98755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Назначение архитектуры для Холдинга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15768"/>
            <a:ext cx="640080" cy="475488"/>
          </a:xfrm>
          <a:prstGeom prst="roundRect">
            <a:avLst>
              <a:gd name="adj" fmla="val 8000"/>
            </a:avLst>
          </a:prstGeom>
          <a:solidFill>
            <a:srgbClr val="121A2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07208"/>
            <a:ext cx="640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88920"/>
            <a:ext cx="98755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Состав и целевые слои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74136"/>
            <a:ext cx="640080" cy="475488"/>
          </a:xfrm>
          <a:prstGeom prst="roundRect">
            <a:avLst>
              <a:gd name="adj" fmla="val 8000"/>
            </a:avLst>
          </a:prstGeom>
          <a:solidFill>
            <a:srgbClr val="121A2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65576"/>
            <a:ext cx="640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47288"/>
            <a:ext cx="98755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Хранилище, портал и управление данными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32504"/>
            <a:ext cx="640080" cy="475488"/>
          </a:xfrm>
          <a:prstGeom prst="roundRect">
            <a:avLst>
              <a:gd name="adj" fmla="val 8000"/>
            </a:avLst>
          </a:prstGeom>
          <a:solidFill>
            <a:srgbClr val="121A2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23944"/>
            <a:ext cx="640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05656"/>
            <a:ext cx="98755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Тренды: реальная ценность, а не копирование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90872"/>
            <a:ext cx="640080" cy="475488"/>
          </a:xfrm>
          <a:prstGeom prst="roundRect">
            <a:avLst>
              <a:gd name="adj" fmla="val 8000"/>
            </a:avLst>
          </a:prstGeom>
          <a:solidFill>
            <a:srgbClr val="121A2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782312"/>
            <a:ext cx="640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764024"/>
            <a:ext cx="98755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Требования и смещение ролей ИТ и бизнеса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49240"/>
            <a:ext cx="640080" cy="475488"/>
          </a:xfrm>
          <a:prstGeom prst="roundRect">
            <a:avLst>
              <a:gd name="adj" fmla="val 8000"/>
            </a:avLst>
          </a:prstGeom>
          <a:solidFill>
            <a:srgbClr val="121A2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440679"/>
            <a:ext cx="640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422392"/>
            <a:ext cx="98755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Этапы, стратегии, политики, первые решения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4BEB2"/>
                </a:solidFill>
                <a:latin typeface="Consolas"/>
                <a:ea typeface="Consolas"/>
                <a:cs typeface="Consolas"/>
              </a:rPr>
              <a:t>02  / 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s-contr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1463040" cy="41148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КОНКУРЕНТНОЕ ПОЛОЖЕНИЕ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7899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Архитектура определяет, видит ли Холдинг факт вовремя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5394960" cy="324612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459736"/>
            <a:ext cx="5065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BEB2"/>
                </a:solidFill>
                <a:latin typeface="Consolas"/>
                <a:ea typeface="Consolas"/>
                <a:cs typeface="Consolas"/>
              </a:rPr>
              <a:t>СОХРАНЯЕТСЯ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52344"/>
            <a:ext cx="5065776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Установленная мощность и структура активов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Топливный баланс, производственная программа, тариф, капитальное строительство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Дисциплина эксплуатации и промышленная безопасность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331720"/>
            <a:ext cx="5532120" cy="324612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459736"/>
            <a:ext cx="520293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ВТОРОЙ КОНТУР КОНКУРЕНЦИИ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752344"/>
            <a:ext cx="5202936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Готовность оборудования и дефект — до отказа оборудования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Прогнозирование на рынке электроэнергии, гибкость финансовых потоков, сценарное моделирование производственной программы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Новые системы и сервисы для компаний — в сроки недель, а не лет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71500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Архитектура — система правил соединения систем и данных. Она либо даёт единую операционную картину, либо закрепляет изолированные контуры учёта.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4BEB2"/>
                </a:solidFill>
                <a:latin typeface="Consolas"/>
                <a:ea typeface="Consolas"/>
                <a:cs typeface="Consolas"/>
              </a:rPr>
              <a:t>03  / 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s-gatew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1463040" cy="41148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ИСХОДНЫЕ УСЛОВИЯ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7899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Технологический контур задаёт рамку. Унаследованное — разрывы обмена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276856"/>
            <a:ext cx="5111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Разнородный корпоративный ландшафт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843784"/>
            <a:ext cx="5111496" cy="112471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Компании Холдинга, несколько поколений корпоративных и отраслевых комплексов. Один актив — несколько наименований.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4884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2276856"/>
            <a:ext cx="5111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Контур станции, длительный жизненный цикл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843784"/>
            <a:ext cx="5111496" cy="112471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Системы диспетчерского управления и сбора данных; распределённые системы управления; программно-технические комплексы; релейная защита; коммерческий учёт электроэнергии; оперативная информация; архивы технологических параметров.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9768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425696"/>
            <a:ext cx="5111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Разрывы как «интеграция»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992624"/>
            <a:ext cx="5111496" cy="11247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Файлы, электронная почта, электронные таблицы в роли шины. Локальные копии данных вне контролируемого периметра.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29768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425696"/>
            <a:ext cx="51114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Нормативные ограничения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4992624"/>
            <a:ext cx="5111496" cy="11247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Критическая информационная инфраструктура, Федеральный закон № 187-ФЗ, требования ФСТЭК России и Ростехнадзора, технологическая независимость — условия проектирования.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4BEB2"/>
                </a:solidFill>
                <a:latin typeface="Consolas"/>
                <a:ea typeface="Consolas"/>
                <a:cs typeface="Consolas"/>
              </a:rPr>
              <a:t>04  / 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s-doma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1463040" cy="41148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СОСТАВ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7899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Семь компонентов. Ни один не является необязательным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77724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Архитектура — правила, по которым системы имеют право соединяться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276856"/>
            <a:ext cx="23682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569464"/>
            <a:ext cx="23682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Бизнес-архитектура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136392"/>
            <a:ext cx="236829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Способности Холдинга: генерация, теплоснабжение, сети, сбыт, надёжность, финансы. Не организационная схема.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214884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276856"/>
            <a:ext cx="23682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569464"/>
            <a:ext cx="23682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Прикладная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3136392"/>
            <a:ext cx="236829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Доменные системы и интегрируемые сервисы. Не единая система планирования ресурсов предприятия на все компании, а стыковка по правилам.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214884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2276856"/>
            <a:ext cx="23682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569464"/>
            <a:ext cx="23682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Данные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136392"/>
            <a:ext cx="236829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Хранилище, портал, управление данными. Мастер актива, точки учёта, контрагента. Владелец, регламент качества, потребитель.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9136" y="214884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276856"/>
            <a:ext cx="23682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569464"/>
            <a:ext cx="23682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Интеграция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3136392"/>
            <a:ext cx="236829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Программные интерфейсы приложений и события вместо соединений «точка — точка». Промышленная площадка: промышленный стандарт обмена. Офис: шлюз интерфейсов.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2062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4334255"/>
            <a:ext cx="32826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4626864"/>
            <a:ext cx="32826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Платформа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5193792"/>
            <a:ext cx="328269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Гибрид: вычисления на площадке, частное облако. Периметр технологического контура соблюдён.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42062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3983" y="4334255"/>
            <a:ext cx="32826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3983" y="4626864"/>
            <a:ext cx="32826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Безопасность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5193792"/>
            <a:ext cx="328269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Сегментация промышленного контура. Принцип нулевого доверия в корпоративном контуре.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55864" y="42062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0456" y="4334255"/>
            <a:ext cx="32826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4626864"/>
            <a:ext cx="328269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Операционная модель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0456" y="5193792"/>
            <a:ext cx="328269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Владелец домена, право подключения системы, источник финансирования платформы и хранилища.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4BEB2"/>
                </a:solidFill>
                <a:latin typeface="Consolas"/>
                <a:ea typeface="Consolas"/>
                <a:cs typeface="Consolas"/>
              </a:rPr>
              <a:t>05  / 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s-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1463040" cy="41148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ЦЕЛЕВАЯ АРХИТЕКТУРА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7899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Управляемый гибрид. Слои и их содержание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13232"/>
            <a:ext cx="4206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Технологический контур — по промышленному регламенту. Корпоративный — по продуктовому. Связь — только через архитектуру.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93392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21A28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39112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КАНАЛЫ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039112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Каналы и решения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039112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Ситуационный центр · Порталы компаний · Мобильные рабочие места · Клиентские сервисы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77440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21A28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42316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Портал искусственного интеллекта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423160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Маркетплейс сервисов · Протокол контекста модели · Программные интерфейсы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61488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21A28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07208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ПРОДУКТЫ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807208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Холдинговые продукты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807208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Сети · Сбыт и теплоснабжение · Сервисы компаний · Сервисы функций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145536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21A28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191256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ПРИЛОЖЕНИЯ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191256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Корпоративные приложения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191256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Планирование ресурсов · Основные фонды и ТО · Кадры и закупки · ГИС активов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529584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21A28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75304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ДАННЫЕ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575304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Портал данных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575304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Каталог · Семантический слой · Сертифицированные наборы · Запросы с ИИ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913632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21A28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959352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ДАННЫЕ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3959352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Управление данными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959352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Владельцы · Мастер-данные · Происхождение · Доступ, в т.ч. для КИИ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297680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21A28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34340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ДАННЫЕ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34340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Корпоративное хранилище данных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343400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Единые витрины · Актив и точка учёта · Производство и финансы · Надёжность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681728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21A28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727448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B48CF0"/>
                </a:solidFill>
                <a:latin typeface="Consolas"/>
                <a:ea typeface="Consolas"/>
                <a:cs typeface="Consolas"/>
              </a:rPr>
              <a:t>СВЯЗЬ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4727448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Интеграция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4727448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Шлюз программных интерфейсов · Шина событий · Загрузка данных · Каталог интерфейсов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065776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21A28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111496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B48CF0"/>
                </a:solidFill>
                <a:latin typeface="Consolas"/>
                <a:ea typeface="Consolas"/>
                <a:cs typeface="Consolas"/>
              </a:rPr>
              <a:t>ШЛЮЗ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5111496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Буферная зона операционных технологий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240" y="5111496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Контролируемые шлюзы · Однонаправленная передача · Копия архива технологических параметров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449824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21A28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495544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B48CF0"/>
                </a:solidFill>
                <a:latin typeface="Consolas"/>
                <a:ea typeface="Consolas"/>
                <a:cs typeface="Consolas"/>
              </a:rPr>
              <a:t>ПРОИЗВОДСТВО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40280" y="5495544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Производственный контур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5495544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Управление производством · Учёт энергоресурсов · Цеховое ТО · Лабораторные данные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833872"/>
            <a:ext cx="11155680" cy="365760"/>
          </a:xfrm>
          <a:prstGeom prst="roundRect">
            <a:avLst>
              <a:gd name="adj" fmla="val 8000"/>
            </a:avLst>
          </a:prstGeom>
          <a:solidFill>
            <a:srgbClr val="121A28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879592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B48CF0"/>
                </a:solidFill>
                <a:latin typeface="Consolas"/>
                <a:ea typeface="Consolas"/>
                <a:cs typeface="Consolas"/>
              </a:rPr>
              <a:t>ЯДРО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40280" y="5879592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Технологический контур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49240" y="5879592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Поле, контроллеры, РЗА · Распределённое управление · Диспетчерское управление · Изменения по промышленному регламенту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263640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4BEB2"/>
                </a:solidFill>
                <a:latin typeface="Consolas"/>
                <a:ea typeface="Consolas"/>
                <a:cs typeface="Consolas"/>
              </a:rPr>
              <a:t>Поток: данные — вверх. Управляющие воздействия вниз — только через шлюзы. Поперечно: идентификация, мониторинг ИБ, наблюдаемость, платформа.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4BEB2"/>
                </a:solidFill>
                <a:latin typeface="Consolas"/>
                <a:ea typeface="Consolas"/>
                <a:cs typeface="Consolas"/>
              </a:rPr>
              <a:t>06  / 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s-data-c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1463040" cy="41148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КОРПОРАТИВНЫЕ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7899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Единое место факта. Не смешение информационного и операционного контуров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3639312" cy="288036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322576"/>
            <a:ext cx="3310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15184"/>
            <a:ext cx="33101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Корпоративное хранилище данных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182112"/>
            <a:ext cx="3310128" cy="1746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Согласованные витрины: актив, точка учёта, контрагент, производство, финансы, надёжность. Историческая и аналитическая основа решений.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94560"/>
            <a:ext cx="3639312" cy="288036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322576"/>
            <a:ext cx="3310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615184"/>
            <a:ext cx="33101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Портал данных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182112"/>
            <a:ext cx="3310128" cy="1746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Контролируемый доступ к каталогу, семантическому слою и сертифицированным наборам. Самообслуживание без локальных копий.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94560"/>
            <a:ext cx="3639312" cy="288036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2322576"/>
            <a:ext cx="3310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48CF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615184"/>
            <a:ext cx="33101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Управление данными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3182112"/>
            <a:ext cx="3310128" cy="1746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Политики, качество, мастер-данные, владельцы, классификация, происхождение, права доступа, в том числе для объектов критической информационной инфраструктуры.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12080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Решение Холдинга пересекает процессы. Пока данные остаются только в системах-источниках, каждая функция оперирует собственной версией факта. Хранилище — согласованная копия после шлюза. «Архив процесса» — архив технологических параметров производства.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4BEB2"/>
                </a:solidFill>
                <a:latin typeface="Consolas"/>
                <a:ea typeface="Consolas"/>
                <a:cs typeface="Consolas"/>
              </a:rPr>
              <a:t>07  / 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s-tw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1463040" cy="41148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ТРЕНДЫ И ТЕХНОЛОГИИ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7899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Оценить ценность. Допустить отрицательный пилот. Затем инвестировать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29968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2996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Сближение информационного и операционного контуров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04288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Общие данные при сохранении сегментации сетей.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029968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202996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Единое пространство имён производства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2304288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Общий язык пром.площадки и офиса; промышленный стандарт обмена данными.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07208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0720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Аналитическое хранилище смешанного типа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081528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Объединяет свойства озера сырых данных и корпоративного склада.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807208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280720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Цифровой двойник актива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3081528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Контур надёжности, а не демонстрационная модель.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584448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58444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Промышленный искусственный интеллект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858768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Режим, прогноз, аномалия, документы — на подготовленных данных.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584448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358444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Генеративный искусственный интеллект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3858768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Документы и сборка минимально жизнеспособного продукта бизнес-пользователем.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361688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36168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Платформенная инженерия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636007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Стандарт и платформа для компаний вместо нового стека в каждом проекте.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361688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436168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Нулевое доверие и вычисления на площадке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59" y="4636007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Проверка доступа в корпоративном контуре; данные, которые не покидают периметр, обрабатываются на объекте.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230368"/>
            <a:ext cx="2761488" cy="1078992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5358383"/>
            <a:ext cx="24323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5650992"/>
            <a:ext cx="24323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Фиксация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6217920"/>
            <a:ext cx="2432304" cy="-548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Технология и процесс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80" y="5230368"/>
            <a:ext cx="2761488" cy="1078992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47872" y="5358383"/>
            <a:ext cx="24323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650992"/>
            <a:ext cx="24323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Гипотеза ценности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47872" y="6217920"/>
            <a:ext cx="2432304" cy="-548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Измеримый эффект для Холдинга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5230368"/>
            <a:ext cx="2761488" cy="1078992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1" y="5358383"/>
            <a:ext cx="24323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1" y="5650992"/>
            <a:ext cx="24323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Ограниченный пилот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8231" y="6217920"/>
            <a:ext cx="2432304" cy="-548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Отрицательный результат — штатный исход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5230368"/>
            <a:ext cx="2761488" cy="1078992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08592" y="5358383"/>
            <a:ext cx="24323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08592" y="5650992"/>
            <a:ext cx="24323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Решение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08592" y="6217920"/>
            <a:ext cx="2432304" cy="-548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Масштабировать, доработать или прекратить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4BEB2"/>
                </a:solidFill>
                <a:latin typeface="Consolas"/>
                <a:ea typeface="Consolas"/>
                <a:cs typeface="Consolas"/>
              </a:rPr>
              <a:t>08  / 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s-sh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1463040" cy="41148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ТРЕБОВАНИЯ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7899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Три уровня. Необходимы все, иначе либо медленно, либо рискованно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3639312" cy="3977639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322576"/>
            <a:ext cx="3310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48CF0"/>
                </a:solidFill>
                <a:latin typeface="Consolas"/>
                <a:ea typeface="Consolas"/>
                <a:cs typeface="Consolas"/>
              </a:rPr>
              <a:t>ОБЯЗАТЕЛЬНО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15184"/>
            <a:ext cx="33101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Непрерывное производство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182112"/>
            <a:ext cx="3310128" cy="2880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Непрерывность технологического процесса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Сегментация информационного и операционного контуров, КИИ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Управляемые изменения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Киберустойчивость и восстановление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94560"/>
            <a:ext cx="3639312" cy="3977639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322576"/>
            <a:ext cx="3310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НЕОБХОДИМО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615184"/>
            <a:ext cx="33101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Эффективность изменений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182112"/>
            <a:ext cx="3310128" cy="2880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Единый идентификатор актива и точки учёта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Изменение за недели, не годы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Наблюдаемость: источник сбоя и ответственность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Снижение зависимости от одного поставщика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94560"/>
            <a:ext cx="3639312" cy="3977639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2322576"/>
            <a:ext cx="3310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ПРЕИМУЩЕСТВО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615184"/>
            <a:ext cx="33101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Опережение сопоставимых игроков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3182112"/>
            <a:ext cx="3310128" cy="2880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Единая операционная картина Холдинга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Решения ближе к реальному времени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Скорость сервисов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Стоимость владения ниже сопоставимого уровня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4BEB2"/>
                </a:solidFill>
                <a:latin typeface="Consolas"/>
                <a:ea typeface="Consolas"/>
                <a:cs typeface="Consolas"/>
              </a:rPr>
              <a:t>09  / 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s-ro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1463040" cy="41148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СМЕЩЕНИЕ РОЛЕЙ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7899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Бизнес собирает пилотный продукт. Информационные технологии обеспечивают глубину и безопасность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5532120" cy="324612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368296"/>
            <a:ext cx="520293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БИЗНЕС-ПОЛЬЗОВАТЕЛЬ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60904"/>
            <a:ext cx="5202936" cy="267919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На портале данных, портале искусственного интеллекта и маркетплейсе сервисов, с применением программных интерфейсов и протокола контекста модели, самостоятельно формирует минимально жизнеспособный продукт: витрину, прототип процесса, аналитический контур, пилот сервиса.
Очередь «техническое задание — разработка информационной системой целиком» сокращается. Ответственность за формулировку ценности и проверку гипотезы переходит к владельцу процесса.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40280"/>
            <a:ext cx="5440680" cy="324612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36829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ИНФОРМАЦИОННЫЕ ТЕХНОЛОГИИ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660904"/>
            <a:ext cx="5111496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Платформа, качество данных, мастер-данные, хранилище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Сложные интеграции, включая технологический контур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Требования ИБ и режим критической информационной инфраструктуры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Идентификация, привилегированный доступ, наблюдаемость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Перевод прошедшего проверку продукта в промышленную эксплуатацию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•  Отказ в подключении систем в обход стандарта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Службы автоматизированных систем управления технологическими процессами — соавторы архитектуры. Информационная безопасность встраивается в конвейер изменений, а не ограничивается финальным согласованием.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4BEB2"/>
                </a:solidFill>
                <a:latin typeface="Consolas"/>
                <a:ea typeface="Consolas"/>
                <a:cs typeface="Consolas"/>
              </a:rPr>
              <a:t>10  / 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s-road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1463040" cy="41148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ЭТАПЫ ПЕРЕХОДА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7899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Последовательность, которая ускоряет переход к новой архитектуре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2761488" cy="192024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231136"/>
            <a:ext cx="24323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23744"/>
            <a:ext cx="24323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Старт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090672"/>
            <a:ext cx="2432304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Инвентаризация информационного и операционного ландшафта, совет с правом вето, мораторий на соединения «точка — точка».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103120"/>
            <a:ext cx="2761488" cy="192024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2231136"/>
            <a:ext cx="24323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523744"/>
            <a:ext cx="24323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Связность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090672"/>
            <a:ext cx="2432304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Управление идентификацией; интеграционный слой; буферная зона операционных технологий; каталог программных интерфейсов.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103120"/>
            <a:ext cx="2761488" cy="192024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2231136"/>
            <a:ext cx="24323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523744"/>
            <a:ext cx="24323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Данные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3090672"/>
            <a:ext cx="2432304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Мастер-данные, корпоративное хранилище, портал данных, управление данными, копия архива технологических параметров после шлюза.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103120"/>
            <a:ext cx="2761488" cy="192024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2231136"/>
            <a:ext cx="24323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2523744"/>
            <a:ext cx="24323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Платформа поставки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3090672"/>
            <a:ext cx="2432304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Непрерывная поставка изменений, внутренняя платформа как сервис.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160520"/>
            <a:ext cx="3703320" cy="192024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288536"/>
            <a:ext cx="337413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4581144"/>
            <a:ext cx="337413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Домены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5148072"/>
            <a:ext cx="337413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Постепенное замещение новыми цифровыми решениями с учётом приоритета ценности для бизнес-функции.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160520"/>
            <a:ext cx="3703320" cy="192024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4288536"/>
            <a:ext cx="337413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4581144"/>
            <a:ext cx="337413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Искусственный интеллект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5148072"/>
            <a:ext cx="337413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Портал и маркетплейс сервисов — только на подготовленных данных хранилища.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4160520"/>
            <a:ext cx="3703320" cy="192024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2" y="4288536"/>
            <a:ext cx="337413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4581144"/>
            <a:ext cx="337413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Модель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2" y="5148072"/>
            <a:ext cx="337413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Продукт вместо проекта. Владельцы доменов и данных. Платформа как внутренний сервис.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4BEB2"/>
                </a:solidFill>
                <a:latin typeface="Consolas"/>
                <a:ea typeface="Consolas"/>
                <a:cs typeface="Consolas"/>
              </a:rPr>
              <a:t>11  / 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s-polic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1463040" cy="41148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ПОДГОТОВКА ХОЛДИНГА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7899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Стратегии и политики — условие перехода, а не приложение к проекту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639312" cy="1847088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212848"/>
            <a:ext cx="3310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05456"/>
            <a:ext cx="33101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Стратегия цифровой трансформации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072384"/>
            <a:ext cx="3310128" cy="7132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Области интересов Холдинга, приоритеты доменов, принципы архитектуры, порядок финансирования платформы и хранилища.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84831"/>
            <a:ext cx="3639312" cy="1847088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212848"/>
            <a:ext cx="3310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505456"/>
            <a:ext cx="33101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Стратегия данных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072384"/>
            <a:ext cx="3310128" cy="7132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Корпоративное хранилище, портал данных, управление данными, владельцы, качество, классификация, доступ.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084831"/>
            <a:ext cx="3639312" cy="1847088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2212848"/>
            <a:ext cx="3310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505456"/>
            <a:ext cx="33101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Стратегия перехода на методологию разработки с применением искусственного интеллекта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3072384"/>
            <a:ext cx="3310128" cy="7132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Кто вправе собирать минимально жизнеспособный продукт, как проверяется гипотеза, как ИТ принимает продукт в промышленную эксплуатацию.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50791"/>
            <a:ext cx="3639312" cy="1847088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4178807"/>
            <a:ext cx="3310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471416"/>
            <a:ext cx="33101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Политика информационной безопасности с учётом решений на основе искусственного интеллекта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5038344"/>
            <a:ext cx="3310128" cy="7132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Допустимые модели, контуры данных, журнал обращений, запрет выгрузки технологического контура, оценка поставщиков сервисов.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050791"/>
            <a:ext cx="3639312" cy="1847088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4178807"/>
            <a:ext cx="3310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4471416"/>
            <a:ext cx="33101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Политика доступа к технологическому контуру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5038344"/>
            <a:ext cx="3310128" cy="7132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Сегментация, шлюзы, однонаправленная передача, привилегированный доступ, промышленный регламент изменений.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4050791"/>
            <a:ext cx="3639312" cy="1847088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2" y="4178807"/>
            <a:ext cx="3310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E0B25A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4471416"/>
            <a:ext cx="33101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Архитектурный стандарт и технологическая независимость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5038344"/>
            <a:ext cx="3310128" cy="7132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Правила подключения систем, каталог интерфейсов, допустимый и запрещённый стек, заменяемость компонентов.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98932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Спонсорская связка: руководитель информационных технологий, руководитель информационной безопасности, главный инженер и операционный директор. Архитектурный совет уполномочен остановить интеграцию в обход стандарта.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4BEB2"/>
                </a:solidFill>
                <a:latin typeface="Consolas"/>
                <a:ea typeface="Consolas"/>
                <a:cs typeface="Consolas"/>
              </a:rPr>
              <a:t>12  /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s-horiz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>
              <a:alpha val="5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1463040" cy="41148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ПЕРВЫЕ РЕШЕНИЯ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07899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Три решения без ожидания завершённой целевой модели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86000"/>
            <a:ext cx="3639312" cy="288036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414016"/>
            <a:ext cx="3310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06624"/>
            <a:ext cx="33101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Совет, мораторий и пакет документов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273552"/>
            <a:ext cx="3310128" cy="1746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Архитектурный совет. Прекращение нерегламентированных интеграций. Запуск разработки стратегий и политик перехода.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286000"/>
            <a:ext cx="3639312" cy="288036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414016"/>
            <a:ext cx="3310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706624"/>
            <a:ext cx="33101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Карта ландшафта и данных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273552"/>
            <a:ext cx="3310128" cy="1746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Инвентаризация информационного и операционного ландшафта. Карта данных критичных процессов.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286000"/>
            <a:ext cx="3639312" cy="2880360"/>
          </a:xfrm>
          <a:prstGeom prst="roundRect">
            <a:avLst>
              <a:gd name="adj" fmla="val 8000"/>
            </a:avLst>
          </a:prstGeom>
          <a:solidFill>
            <a:srgbClr val="121A2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2414016"/>
            <a:ext cx="33101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ED4E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706624"/>
            <a:ext cx="33101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Пилотные проекты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3273552"/>
            <a:ext cx="3310128" cy="1746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4BEB2"/>
                </a:solidFill>
                <a:latin typeface="Calibri"/>
                <a:ea typeface="Calibri"/>
                <a:cs typeface="Calibri"/>
              </a:rPr>
              <a:t>Обогащение хранилища, реализация коннекторов к данным, портал данных, портал искусственного интеллекта, проверка гипотезы и ценности.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9496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4F0E6"/>
                </a:solidFill>
                <a:latin typeface="Calibri"/>
                <a:ea typeface="Calibri"/>
                <a:cs typeface="Calibri"/>
              </a:rPr>
              <a:t>Унаследованные системы сохраняют функцию. Архитектура обеспечивает контролируемый переход данных и решений в целевой контур.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4BEB2"/>
                </a:solidFill>
                <a:latin typeface="Consolas"/>
                <a:ea typeface="Consolas"/>
                <a:cs typeface="Consolas"/>
              </a:rPr>
              <a:t>13  /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